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D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E8F4FD"/>
                </a:solidFill>
                <a:latin typeface="Arial"/>
              </a:rPr>
              <a:t>Error Metrics (MW)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(MW)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Train MAE</c:v>
                </c:pt>
                <c:pt idx="1">
                  <c:v>Test MAE</c:v>
                </c:pt>
                <c:pt idx="2">
                  <c:v>Test RMSE</c:v>
                </c:pt>
                <c:pt idx="3">
                  <c:v>Max Error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1.84</c:v>
                </c:pt>
                <c:pt idx="2">
                  <c:v>2.38</c:v>
                </c:pt>
                <c:pt idx="3">
                  <c:v>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9-4EEB-BBBA-D62D4E2662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2A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44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589520" y="-64008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32004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</a:rPr>
              <a:t>MASTER OF SCIENCE  ·  DATA SCIENCE  ·  MARWADI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Electricity Demand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Forecasting &amp;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Peak Risk Detection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C9A7"/>
                </a:solidFill>
              </a:rPr>
              <a:t>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Tushar Kacha  ·  Isha Kakadiya  ·  Drashti Parecha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87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Guide: Dr. Sunil Bajeja  &amp;  Nikunj Bosamiya  |  AY 2025–26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02920"/>
            <a:ext cx="1208314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197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417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Why electricity forecasting matters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Objectives &amp;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21031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What we set out to achieve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569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&amp;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27889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17,496 hourly records, 19 engineered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2461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3255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34747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End-to-end ML pipeline flowchart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9319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941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Models &amp; Methodology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" y="4160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XGBoost Regressor + Gradient-Boost Classifier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1887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91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1197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 &amp; Metrics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84648" y="1417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MAE 1.84 MW · R² 0.9964 · AUC 0.999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091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84648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84648" y="21031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4-page interactive application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5603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91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84648" y="2569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Proposed Enhancements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84648" y="27889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Future roadmap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246120"/>
            <a:ext cx="384048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091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84648" y="3255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4648" y="34747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F"/>
                </a:solidFill>
              </a:rPr>
              <a:t>Key takeaways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Electricity is the backbone of modern civilisation. Yet power grids worldwide struggle with one fundamental challenge: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107"/>
                </a:solidFill>
              </a:rPr>
              <a:t>Demand is unpredictable.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706624"/>
            <a:ext cx="54864" cy="320040"/>
          </a:xfrm>
          <a:prstGeom prst="rect">
            <a:avLst/>
          </a:prstGeom>
          <a:solidFill>
            <a:srgbClr val="FF5C6A"/>
          </a:solidFill>
          <a:ln w="12700">
            <a:solidFill>
              <a:srgbClr val="FF5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Blackouts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Unexpected demand spikes cause equipment failure and economic loss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255264"/>
            <a:ext cx="54864" cy="320040"/>
          </a:xfrm>
          <a:prstGeom prst="rect">
            <a:avLst/>
          </a:prstGeom>
          <a:solidFill>
            <a:srgbClr val="FF5C6A"/>
          </a:solidFill>
          <a:ln w="12700">
            <a:solidFill>
              <a:srgbClr val="FF5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Over-procurement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Excess generation leads to waste and inflated costs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803904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Traditional Limits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0050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ARIMA &amp; statistical methods fail to capture nonlinear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352544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Real-Time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5537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Utilities lack instant peak-risk scoring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097280"/>
            <a:ext cx="3017520" cy="320040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607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73736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5508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XGBoost Regression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for hourly MW prediction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251460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5508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Gradient-Boost Classifier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for peak-hour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329184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Streamlit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for grid operators</a:t>
            </a:r>
            <a:endParaRPr lang="en-US" sz="10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E1B52A9F-2677-6E01-64F9-D6C71541DD66}"/>
              </a:ext>
            </a:extLst>
          </p:cNvPr>
          <p:cNvSpPr/>
          <p:nvPr/>
        </p:nvSpPr>
        <p:spPr>
          <a:xfrm>
            <a:off x="411479" y="502920"/>
            <a:ext cx="2684417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 &amp;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5087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51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Sub-2 MW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Forecast hourly electricity demand with MAE below 2 MW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1234440"/>
            <a:ext cx="2651760" cy="15087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19272" y="1234440"/>
            <a:ext cx="2651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19272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56432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Missed Peaks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Detect peak-risk hours in advance with Recall = 1.0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27064" y="1234440"/>
            <a:ext cx="2651760" cy="15087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27064" y="1234440"/>
            <a:ext cx="2651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27064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64224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Interactive UI accessible to non-technical grid operators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2651760" cy="15087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2926080"/>
            <a:ext cx="2651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24-Hour Ahead Forecast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Support day-ahead load scheduling decisions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9272" y="2926080"/>
            <a:ext cx="2651760" cy="15087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319272" y="2926080"/>
            <a:ext cx="2651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19272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56432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Trend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6432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Enable monthly and seasonal demand trend visualisation</a:t>
            </a:r>
            <a:endParaRPr lang="en-US" sz="10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6E2CF921-FFF7-7280-117B-F08667C26FD4}"/>
              </a:ext>
            </a:extLst>
          </p:cNvPr>
          <p:cNvSpPr/>
          <p:nvPr/>
        </p:nvSpPr>
        <p:spPr>
          <a:xfrm>
            <a:off x="411480" y="502920"/>
            <a:ext cx="379476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920240" cy="91440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</a:rPr>
              <a:t>17,496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Hourly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91440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</a:rPr>
              <a:t>2 Years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Jan 2022 – Dec 2023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20240" cy="91440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</a:rPr>
              <a:t>19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Engineered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097280"/>
            <a:ext cx="1920240" cy="91440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08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</a:rPr>
              <a:t>90/10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Train / Test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240280"/>
            <a:ext cx="1920240" cy="2651760"/>
          </a:xfrm>
          <a:prstGeom prst="rect">
            <a:avLst/>
          </a:prstGeom>
          <a:solidFill>
            <a:srgbClr val="122A45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2240280"/>
            <a:ext cx="1920240" cy="29260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Temporal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" y="269748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2651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Hour of 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" y="311810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072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Day of 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" y="35387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Month, Season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" y="395935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" y="39136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Week of year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" y="437997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3342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Holiday flag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240280"/>
            <a:ext cx="1920240" cy="2651760"/>
          </a:xfrm>
          <a:prstGeom prst="rect">
            <a:avLst/>
          </a:prstGeom>
          <a:solidFill>
            <a:srgbClr val="122A45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514600" y="2240280"/>
            <a:ext cx="1920240" cy="292608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514600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Meteorological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79192" y="2697480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34640" y="2651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Temperature (°C)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79192" y="3118104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34640" y="3072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Humidity (%)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9192" y="3538728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83464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Solar irradiation (W/m²)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240280"/>
            <a:ext cx="1920240" cy="2651760"/>
          </a:xfrm>
          <a:prstGeom prst="rect">
            <a:avLst/>
          </a:prstGeom>
          <a:solidFill>
            <a:srgbClr val="122A45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17720" y="2240280"/>
            <a:ext cx="1920240" cy="292608"/>
          </a:xfrm>
          <a:prstGeom prst="rect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17720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Socio-Economic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82312" y="2697480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37760" y="2651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Population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3118104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37760" y="3072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GNI per capita (USD)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82312" y="3538728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3776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Electricity price (USD/kWh)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20840" y="2240280"/>
            <a:ext cx="1920240" cy="2651760"/>
          </a:xfrm>
          <a:prstGeom prst="rect">
            <a:avLst/>
          </a:prstGeom>
          <a:solidFill>
            <a:srgbClr val="122A45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720840" y="2240280"/>
            <a:ext cx="1920240" cy="292608"/>
          </a:xfrm>
          <a:prstGeom prst="rect">
            <a:avLst/>
          </a:prstGeom>
          <a:solidFill>
            <a:srgbClr val="FF8A80">
              <a:alpha val="80000"/>
            </a:srgbClr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720840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Lag / Rolling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85432" y="2697480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040880" y="2651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Lag 1-hour load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85432" y="3118104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40880" y="3072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Lag 1-day load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85432" y="3538728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04088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Rolling 7-day avg</a:t>
            </a:r>
            <a:endParaRPr lang="en-US" sz="1000" dirty="0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F8FBAC37-C26A-983C-959B-4333D244BBDC}"/>
              </a:ext>
            </a:extLst>
          </p:cNvPr>
          <p:cNvSpPr/>
          <p:nvPr/>
        </p:nvSpPr>
        <p:spPr>
          <a:xfrm>
            <a:off x="411479" y="502920"/>
            <a:ext cx="4265023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Pipeline &amp;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96012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CSV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17,496 rows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53312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53312" y="1417320"/>
            <a:ext cx="9601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53312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Clean · Scale · Encode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13432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386584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386584" y="1417320"/>
            <a:ext cx="9601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86584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86584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Temporal · Lag · Rolling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46704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19856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FFC10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419856" y="1417320"/>
            <a:ext cx="960120" cy="640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19856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/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 90/10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9856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Chronological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79976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53128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FF8A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53128" y="1417320"/>
            <a:ext cx="960120" cy="64008"/>
          </a:xfrm>
          <a:prstGeom prst="rect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53128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Regressor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53128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Load MW prediction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13248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0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FF8A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86400" y="1417320"/>
            <a:ext cx="960120" cy="64008"/>
          </a:xfrm>
          <a:prstGeom prst="rect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0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Peak hour detection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46520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519672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FFC10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19672" y="1417320"/>
            <a:ext cx="960120" cy="640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19672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9672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MAE · R² · AUC-ROC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79792" y="1897380"/>
            <a:ext cx="73152" cy="0"/>
          </a:xfrm>
          <a:prstGeom prst="line">
            <a:avLst/>
          </a:prstGeom>
          <a:noFill/>
          <a:ln w="1270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552944" y="1417320"/>
            <a:ext cx="960120" cy="960120"/>
          </a:xfrm>
          <a:prstGeom prst="rect">
            <a:avLst/>
          </a:prstGeom>
          <a:solidFill>
            <a:srgbClr val="122A45"/>
          </a:solidFill>
          <a:ln w="1905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552944" y="1417320"/>
            <a:ext cx="9601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552944" y="1527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52944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BF"/>
                </a:solidFill>
              </a:rPr>
              <a:t>4-page web app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2606040"/>
            <a:ext cx="416052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1480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80"/>
                </a:solidFill>
              </a:rPr>
              <a:t>Regression Path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2944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n_estimators=500 · learning_rate=0.05 · max_depth=6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subsample=0.8 · colsample_bytree=0.8 · early stopping (50 rounds)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Target: load_demand_MW (continuous)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2606040"/>
            <a:ext cx="416052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54880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80"/>
                </a:solidFill>
              </a:rPr>
              <a:t>Classification Path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0" y="2944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n_estimators=300 · learning_rate=0.1 · max_depth=5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scale_pos_weight≈9 (handles class imbalance ~10% peak)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Target: is_peak (binary, 90th-percentile threshold ≈ 340 MW)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206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ABF"/>
                </a:solidFill>
              </a:rPr>
              <a:t>Serialised outputs: all_results.pkl · predictions.pkl · peak_analysis.pkl · residuals.pkl</a:t>
            </a:r>
            <a:endParaRPr lang="en-US" sz="95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44EA6552-4B55-EB7D-1720-996DD6312D97}"/>
              </a:ext>
            </a:extLst>
          </p:cNvPr>
          <p:cNvSpPr/>
          <p:nvPr/>
        </p:nvSpPr>
        <p:spPr>
          <a:xfrm>
            <a:off x="411480" y="502920"/>
            <a:ext cx="425196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Preprocessing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Null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Verified zero null values in cleaned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Datetime Parsing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Converted string to pandas datetime64 · set as index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Label Creation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is_peak = 1 when load &gt; 90th percentile (~340 MW) in hours 22–06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084832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176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Scaling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StandardScaler applied to continuous features for classifier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980944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Lag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64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lag_1h and lag_1d created with .shift() — no data leakage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80944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Rolling Window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364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7-day rolling mean on training; boundary values for test set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877056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Train-Test Split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261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Chronological 90/10: first 15,728 rows train · last 1,768 test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877056"/>
            <a:ext cx="4114800" cy="77724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One-Hot Encoding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4261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F"/>
                </a:solidFill>
              </a:rPr>
              <a:t>Season encoded with pd.get_dummies(drop_first=True)</a:t>
            </a:r>
            <a:endParaRPr lang="en-US" sz="95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1263A472-9618-F5B7-73F4-54778F0C1496}"/>
              </a:ext>
            </a:extLst>
          </p:cNvPr>
          <p:cNvSpPr/>
          <p:nvPr/>
        </p:nvSpPr>
        <p:spPr>
          <a:xfrm>
            <a:off x="411480" y="502920"/>
            <a:ext cx="356616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Load Forecasting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</a:rPr>
              <a:t>1.84 MW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Mean Absolute Error (MAE)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C3F7"/>
                </a:solidFill>
              </a:rPr>
              <a:t>2.38 MW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Root Mean Square Error (RMSE)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107"/>
                </a:solidFill>
              </a:rPr>
              <a:t>0.9964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R² Score (Coefficient of Determination)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084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8A80"/>
                </a:solidFill>
              </a:rPr>
              <a:t>0.68%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Mean Absolute Percentage Error (MAPE)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11480" y="2377440"/>
          <a:ext cx="4572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257800" y="2377440"/>
            <a:ext cx="3474720" cy="2560320"/>
          </a:xfrm>
          <a:prstGeom prst="rect">
            <a:avLst/>
          </a:prstGeom>
          <a:solidFill>
            <a:srgbClr val="122A45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34924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49240" y="294436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53212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R² of 0.9964 indicates near-perfect fit with residuals consistently below 2 MW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49240" y="34198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53212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Maximum error of 7.99 MW across all test hours confirms model stability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49240" y="389534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53212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Test MAE only 0.64 MW above Train MAE — minimal overfitting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349240" y="437083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53212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Model trained on 90% data (15,728 records), tested on Dec 2023 (1,768 records)</a:t>
            </a:r>
            <a:endParaRPr lang="en-US" sz="10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30CF07CF-8B83-8C43-D272-32D0A87A82BB}"/>
              </a:ext>
            </a:extLst>
          </p:cNvPr>
          <p:cNvSpPr/>
          <p:nvPr/>
        </p:nvSpPr>
        <p:spPr>
          <a:xfrm>
            <a:off x="411480" y="502920"/>
            <a:ext cx="342900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Peak Risk Detection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C3F7"/>
                </a:solidFill>
              </a:rPr>
              <a:t>0.889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</a:rPr>
              <a:t>1.000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Recall (Zero Missed Peaks!)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107"/>
                </a:solidFill>
              </a:rPr>
              <a:t>0.941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F1-Score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143000"/>
            <a:ext cx="1920240" cy="105156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0840" y="123444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8A80"/>
                </a:solidFill>
              </a:rPr>
              <a:t>0.999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17529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AUC-ROC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4114800" cy="256032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4FD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816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Predicted Non-Peak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34640" y="2816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Predicted Peak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Actual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Non-Peak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Actual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Peak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234440" y="3063240"/>
            <a:ext cx="1508760" cy="594360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23444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TN = 159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88920" y="3063240"/>
            <a:ext cx="1508760" cy="594360"/>
          </a:xfrm>
          <a:prstGeom prst="rect">
            <a:avLst/>
          </a:prstGeom>
          <a:solidFill>
            <a:srgbClr val="FF5C6A">
              <a:alpha val="40000"/>
            </a:srgbClr>
          </a:solidFill>
          <a:ln w="12700">
            <a:solidFill>
              <a:srgbClr val="FF5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8892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FP = 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34440" y="3703320"/>
            <a:ext cx="1508760" cy="594360"/>
          </a:xfrm>
          <a:prstGeom prst="rect">
            <a:avLst/>
          </a:prstGeom>
          <a:solidFill>
            <a:srgbClr val="FF5C6A">
              <a:alpha val="40000"/>
            </a:srgbClr>
          </a:solidFill>
          <a:ln w="12700">
            <a:solidFill>
              <a:srgbClr val="FF5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234440" y="3703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FN = 0 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88920" y="3703320"/>
            <a:ext cx="1508760" cy="594360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88920" y="3703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TP = 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4480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C9A7"/>
                </a:solidFill>
              </a:rPr>
              <a:t>FN = 0: Every single peak hour was correctly flagged — no blackout risk missed!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377440"/>
            <a:ext cx="3977640" cy="256032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24871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</a:rPr>
              <a:t>Why Recall = 1.0 Matters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0" y="28895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Peak hours represent ~10% of all hours, concentrated in 22:00–06:00 window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383280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0" y="33467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Missing a peak hour (FN) causes grid stress, equipment damage, or outages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840480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029200" y="3803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1 false positive (FP) is acceptable vs. 0 missed peaks in critical infrastructure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297680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0" y="4261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scale_pos_weight=9 balanced the class imbalance, preventing the model from ignoring minority class</a:t>
            </a:r>
            <a:endParaRPr lang="en-US" sz="10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D93FAEFB-6337-FC1F-AD91-5CB27AE2A81A}"/>
              </a:ext>
            </a:extLst>
          </p:cNvPr>
          <p:cNvSpPr/>
          <p:nvPr/>
        </p:nvSpPr>
        <p:spPr>
          <a:xfrm>
            <a:off x="411480" y="502920"/>
            <a:ext cx="388620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Streamlit Web 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965960" cy="3657600"/>
          </a:xfrm>
          <a:prstGeom prst="rect">
            <a:avLst/>
          </a:prstGeom>
          <a:solidFill>
            <a:srgbClr val="122A4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965960" cy="36576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Page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78308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4 KPI cards (MAE, RMSE, F1, Peak 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" y="247802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43230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7-day actual vs predicted chart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" y="317296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1272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Peak risk donut chart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" y="386791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8221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24-hour ahead dual-axis forecast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1234440"/>
            <a:ext cx="1965960" cy="3657600"/>
          </a:xfrm>
          <a:prstGeom prst="rect">
            <a:avLst/>
          </a:prstGeom>
          <a:solidFill>
            <a:srgbClr val="122A45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60320" y="1234440"/>
            <a:ext cx="1965960" cy="36576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60320" y="12527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Page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6032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Forecast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24912" y="1783080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880360" y="173736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24–720 hour time-window selection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24912" y="2478024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80360" y="243230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Chart type selector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24912" y="3172968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880360" y="31272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Error distribution histogram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24912" y="3867912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80360" y="38221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Error-vs-predicted scatter plot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234440"/>
            <a:ext cx="1965960" cy="3657600"/>
          </a:xfrm>
          <a:prstGeom prst="rect">
            <a:avLst/>
          </a:prstGeom>
          <a:solidFill>
            <a:srgbClr val="122A45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09160" y="1234440"/>
            <a:ext cx="1965960" cy="365760"/>
          </a:xfrm>
          <a:prstGeom prst="rect">
            <a:avLst/>
          </a:prstGeom>
          <a:solidFill>
            <a:srgbClr val="FFC107">
              <a:alpha val="85000"/>
            </a:srgbClr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9160" y="12527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Page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0916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Peak Risk Detection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73752" y="1783080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29200" y="173736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Precision / Recall / F1 display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73752" y="2478024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0" y="243230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Slider-controlled probability timeline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73752" y="3172968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0" y="31272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Risk threshold lines at 30% &amp; 70%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73752" y="3867912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0" y="38221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Actual load overlay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0" y="1234440"/>
            <a:ext cx="1965960" cy="3657600"/>
          </a:xfrm>
          <a:prstGeom prst="rect">
            <a:avLst/>
          </a:prstGeom>
          <a:solidFill>
            <a:srgbClr val="122A45"/>
          </a:solidFill>
          <a:ln w="19050">
            <a:solidFill>
              <a:srgbClr val="FF8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58000" y="1234440"/>
            <a:ext cx="1965960" cy="365760"/>
          </a:xfrm>
          <a:prstGeom prst="rect">
            <a:avLst/>
          </a:prstGeom>
          <a:solidFill>
            <a:srgbClr val="FF8A80">
              <a:alpha val="85000"/>
            </a:srgbClr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858000" y="12527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Page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Model Performance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22592" y="1783080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178040" y="173736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All stored evaluation metrics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22592" y="2478024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178040" y="243230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Feature importance bar chart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22592" y="3172968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178040" y="31272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Feature correlation with load demand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22592" y="3867912"/>
            <a:ext cx="91440" cy="91440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178040" y="38221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Loaded from all_results.pkl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</a:rPr>
              <a:t>Technology-agnostic front-end · Zero installation · Runs in any browser · Pre-trained pickled models (&lt;1s inference)</a:t>
            </a:r>
            <a:endParaRPr lang="en-US" sz="900" dirty="0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BA09AC58-8945-1357-6645-29C0B9216874}"/>
              </a:ext>
            </a:extLst>
          </p:cNvPr>
          <p:cNvSpPr/>
          <p:nvPr/>
        </p:nvSpPr>
        <p:spPr>
          <a:xfrm>
            <a:off x="411479" y="502920"/>
            <a:ext cx="3801291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&amp; 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64008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3.11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Core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18872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FF8A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19272" y="1188720"/>
            <a:ext cx="64008" cy="1097280"/>
          </a:xfrm>
          <a:prstGeom prst="rect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02152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 2.0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1755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Regression &amp;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18872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27064" y="1188720"/>
            <a:ext cx="6400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9944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Pandas 2.1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9944" y="1755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Data manipulation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42316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FFC10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2423160"/>
            <a:ext cx="64008" cy="10972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2587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NumPy 1.26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Numerical operations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242316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19272" y="2423160"/>
            <a:ext cx="64008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02152" y="2587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Scikit-learn 1.4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02152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Preprocessing &amp;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7064" y="242316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27064" y="2423160"/>
            <a:ext cx="6400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9944" y="2587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Streamlit 1.32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9944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Interactive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65760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FFC10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11480" y="3657600"/>
            <a:ext cx="64008" cy="10972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Plotly 5.20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4224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Interactive visualisations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9272" y="365760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FF8A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19272" y="3657600"/>
            <a:ext cx="64008" cy="1097280"/>
          </a:xfrm>
          <a:prstGeom prst="rect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02152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Pickle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02152" y="4224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Model serialisation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27064" y="3657600"/>
            <a:ext cx="27432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27064" y="3657600"/>
            <a:ext cx="64008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09944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Jupyter 7.x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9944" y="4224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F"/>
                </a:solidFill>
              </a:rPr>
              <a:t>Development &amp; experimentation</a:t>
            </a:r>
            <a:endParaRPr lang="en-US" sz="1100"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57B004-33CC-3981-57FE-7E3B9BCE9B6F}"/>
              </a:ext>
            </a:extLst>
          </p:cNvPr>
          <p:cNvSpPr/>
          <p:nvPr/>
        </p:nvSpPr>
        <p:spPr>
          <a:xfrm>
            <a:off x="411480" y="502920"/>
            <a:ext cx="3455126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FUTURE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Proposed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1148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Real-Time SCADA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Connect pipeline to live feeds for hourly auto-updates to forecasts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1325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LSTM / Transformer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Explore seq2seq deep learning for longer-range temporal dependencies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23160"/>
            <a:ext cx="41148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25603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Probabilistic Forecasting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Quantile regression &amp; conformal prediction for uncertainty bounds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25603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Longer Training Window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5–10 years of data to capture seasonal drift and rare demand events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41148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34440" y="3794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Mobile-Responsive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React/Angular front-end with role-based access control for stakeholders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37033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3794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F"/>
                </a:solidFill>
              </a:rPr>
              <a:t>Isolation Forest / Autoencoder for data-quality issue flagging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🌱  Carbon Emission Overlay — Integrate regional carbon intensity data to overlay CO₂ emission estimates alongside load forecasts, supporting India's net-zero planning.</a:t>
            </a:r>
            <a:endParaRPr lang="en-US" sz="95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81616834-FE3E-E427-9C6E-BDD8A1A78D34}"/>
              </a:ext>
            </a:extLst>
          </p:cNvPr>
          <p:cNvSpPr/>
          <p:nvPr/>
        </p:nvSpPr>
        <p:spPr>
          <a:xfrm>
            <a:off x="411479" y="502920"/>
            <a:ext cx="3507377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804672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64008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Near-Perfect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R² = 0.9964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0" cy="548640"/>
          </a:xfrm>
          <a:prstGeom prst="line">
            <a:avLst/>
          </a:prstGeom>
          <a:noFill/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91840" y="1344168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Extreme Gradient Boosting delivers highly accurate hourly load forecasting from a carefully engineered 19-feature dataset.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8321040" cy="804672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64008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Missed Peaks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Recall = 1.0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2286000"/>
            <a:ext cx="0" cy="548640"/>
          </a:xfrm>
          <a:prstGeom prst="line">
            <a:avLst/>
          </a:prstGeom>
          <a:noFill/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91840" y="2258568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Peak classification achieves AUC-ROC = 0.999 with no missed peak events — critical for preventing grid failures.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8321040" cy="804672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64008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Seasonal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447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22:00–06:00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08960" y="3200400"/>
            <a:ext cx="0" cy="548640"/>
          </a:xfrm>
          <a:prstGeom prst="line">
            <a:avLst/>
          </a:prstGeom>
          <a:noFill/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91840" y="3172968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Peak hours are concentrated in late-night/early-morning windows and spring/summer, enabling targeted generation scheduling.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77640"/>
            <a:ext cx="8321040" cy="804672"/>
          </a:xfrm>
          <a:prstGeom prst="rect">
            <a:avLst/>
          </a:prstGeom>
          <a:solidFill>
            <a:srgbClr val="122A4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3977640"/>
            <a:ext cx="64008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Accessible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3616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Streamlit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08960" y="4114800"/>
            <a:ext cx="0" cy="548640"/>
          </a:xfrm>
          <a:prstGeom prst="line">
            <a:avLst/>
          </a:prstGeom>
          <a:noFill/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91840" y="4087368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Non-technical grid operators get intuitive visualisations, 24-hour forecasts, and colour-coded risk alerts in a browser.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ABF"/>
                </a:solidFill>
              </a:rPr>
              <a:t>Future: Live SCADA integration · Deep-learning sequence models · Probabilistic intervals · Carbon-aware dispatch for India's net-zero ambitions</a:t>
            </a:r>
            <a:endParaRPr lang="en-US" sz="9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1410334A-9C77-5D74-9322-D5649061090C}"/>
              </a:ext>
            </a:extLst>
          </p:cNvPr>
          <p:cNvSpPr/>
          <p:nvPr/>
        </p:nvSpPr>
        <p:spPr>
          <a:xfrm>
            <a:off x="411479" y="502920"/>
            <a:ext cx="1567543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Electricity Demand Forecasting &amp; Peak Risk Detection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063240"/>
            <a:ext cx="2743200" cy="0"/>
          </a:xfrm>
          <a:prstGeom prst="line">
            <a:avLst/>
          </a:prstGeom>
          <a:noFill/>
          <a:ln w="1016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D"/>
                </a:solidFill>
              </a:rPr>
              <a:t>Tushar Kacha  ·  Isha Kakadiya  ·  Drashti Parecha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93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ABF"/>
                </a:solidFill>
              </a:rPr>
              <a:t>Guide: Dr. Sunil Bajeja &amp; Nikunj Bosamiya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F"/>
                </a:solidFill>
              </a:rPr>
              <a:t>Marwadi University  ·  Faculty of Computer Applications  ·  AY 2025–26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A45"/>
          </a:solidFill>
          <a:ln w="12700">
            <a:solidFill>
              <a:srgbClr val="122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R² = 0.9964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Load Forecasting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Recall = 1.0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Peak Detection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AUC-ROC = 0.999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Classifier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MAE = 1.84 MW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F"/>
                </a:solidFill>
              </a:rPr>
              <a:t>Test Error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1297</Words>
  <Application>Microsoft Office PowerPoint</Application>
  <PresentationFormat>On-screen Show (16:9)</PresentationFormat>
  <Paragraphs>313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Demand Forecasting &amp; Peak Risk Detection System</dc:title>
  <dc:subject>PptxGenJS Presentation</dc:subject>
  <dc:creator>PptxGenJS</dc:creator>
  <cp:lastModifiedBy>tushar kacha</cp:lastModifiedBy>
  <cp:revision>2</cp:revision>
  <dcterms:created xsi:type="dcterms:W3CDTF">2026-04-11T08:39:15Z</dcterms:created>
  <dcterms:modified xsi:type="dcterms:W3CDTF">2026-04-11T09:15:41Z</dcterms:modified>
</cp:coreProperties>
</file>